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mbria Math" panose="02040503050406030204" pitchFamily="18" charset="0"/>
      <p:regular r:id="rId13"/>
    </p:embeddedFont>
    <p:embeddedFont>
      <p:font typeface="Georgia" panose="02040502050405020303" pitchFamily="18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Petrona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42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56481" y="600528"/>
            <a:ext cx="4835188" cy="970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u="sng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Water Potability Project Notebook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2550" u="sng" dirty="0"/>
          </a:p>
        </p:txBody>
      </p:sp>
      <p:sp>
        <p:nvSpPr>
          <p:cNvPr id="4" name="Text 1"/>
          <p:cNvSpPr/>
          <p:nvPr/>
        </p:nvSpPr>
        <p:spPr>
          <a:xfrm>
            <a:off x="3812694" y="3270137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Submitted by: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812694" y="3533912"/>
            <a:ext cx="4722763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Vanshika Goel (12517148)</a:t>
            </a:r>
            <a:endParaRPr lang="en-US" sz="1100" dirty="0">
              <a:latin typeface="Georgia" panose="02040502050405020303" pitchFamily="18" charset="0"/>
            </a:endParaRPr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Neelakshi Bhuiya (12502663)</a:t>
            </a:r>
            <a:endParaRPr lang="en-US" sz="1100" dirty="0">
              <a:latin typeface="Georgia" panose="02040502050405020303" pitchFamily="18" charset="0"/>
            </a:endParaRPr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Rishita Tripathi (12513152)</a:t>
            </a:r>
            <a:endParaRPr lang="en-US" sz="1100" dirty="0">
              <a:latin typeface="Georgia" panose="02040502050405020303" pitchFamily="18" charset="0"/>
            </a:endParaRPr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Vyomica Jaiswal (12515322)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65840F-689D-FE98-A7CC-34F555489F9F}"/>
              </a:ext>
            </a:extLst>
          </p:cNvPr>
          <p:cNvSpPr txBox="1"/>
          <p:nvPr/>
        </p:nvSpPr>
        <p:spPr>
          <a:xfrm>
            <a:off x="3709977" y="1674901"/>
            <a:ext cx="5040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4041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Nobile" pitchFamily="34" charset="-120"/>
              </a:rPr>
              <a:t>A machine learning approach to classifying water safety using physical and chemical parameters. This project explores a dataset of 3,276 water samples across 10 features, applies data cleaning, exploratory analysis, and compares four classification models to predict whether water is safe to drink.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IN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5B7884-D97E-EE43-277A-6246BC0C4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317" y="4716764"/>
            <a:ext cx="1653683" cy="3581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33D34B-4248-E528-3BFE-FBE8655F955E}"/>
              </a:ext>
            </a:extLst>
          </p:cNvPr>
          <p:cNvSpPr txBox="1"/>
          <p:nvPr/>
        </p:nvSpPr>
        <p:spPr>
          <a:xfrm>
            <a:off x="7490317" y="4579257"/>
            <a:ext cx="1247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Georgia" panose="02040502050405020303" pitchFamily="18" charset="0"/>
              </a:rPr>
              <a:t>Submitted to -:</a:t>
            </a:r>
          </a:p>
          <a:p>
            <a:r>
              <a:rPr lang="en-IN" sz="1200" dirty="0">
                <a:latin typeface="Georgia" panose="02040502050405020303" pitchFamily="18" charset="0"/>
              </a:rPr>
              <a:t>Mr Sreesh Bhat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421994"/>
            <a:ext cx="815176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u="sng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Overview: Water Potability Analysis</a:t>
            </a:r>
            <a:endParaRPr lang="en-US" sz="2550" u="sng" dirty="0"/>
          </a:p>
        </p:txBody>
      </p:sp>
      <p:sp>
        <p:nvSpPr>
          <p:cNvPr id="3" name="Text 1"/>
          <p:cNvSpPr/>
          <p:nvPr/>
        </p:nvSpPr>
        <p:spPr>
          <a:xfrm>
            <a:off x="434132" y="95491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This project aims to analyze water quality parameters to predict potability. We utilize various machine learning models to classify water samples as potable or non-potable, ensuring data integrity through rigorous cleaning and preprocessing.</a:t>
            </a:r>
            <a:endParaRPr lang="en-US" sz="1200" dirty="0">
              <a:latin typeface="Georgia" panose="02040502050405020303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108A210-2A11-6AE8-2F8B-1B9ABD3D00E7}"/>
              </a:ext>
            </a:extLst>
          </p:cNvPr>
          <p:cNvGrpSpPr/>
          <p:nvPr/>
        </p:nvGrpSpPr>
        <p:grpSpPr>
          <a:xfrm>
            <a:off x="434131" y="1734207"/>
            <a:ext cx="4013895" cy="1219449"/>
            <a:chOff x="496119" y="2154138"/>
            <a:chExt cx="4013895" cy="951384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2154138"/>
              <a:ext cx="4013895" cy="951384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691530" y="2292400"/>
              <a:ext cx="3680222" cy="2035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Data Loading &amp; Inspection</a:t>
              </a:r>
              <a:endParaRPr lang="en-US" sz="12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691530" y="2570336"/>
              <a:ext cx="3680222" cy="396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Loading the dataset and performing initial checks on its structure, columns, and basic statistics.</a:t>
              </a:r>
              <a:endParaRPr lang="en-US" sz="95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80AEBF-B385-9375-6A32-EFFF7CC760EC}"/>
              </a:ext>
            </a:extLst>
          </p:cNvPr>
          <p:cNvGrpSpPr/>
          <p:nvPr/>
        </p:nvGrpSpPr>
        <p:grpSpPr>
          <a:xfrm>
            <a:off x="4633986" y="1748722"/>
            <a:ext cx="4013895" cy="1204934"/>
            <a:chOff x="4633987" y="2241222"/>
            <a:chExt cx="4013895" cy="951384"/>
          </a:xfrm>
        </p:grpSpPr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33987" y="2241222"/>
              <a:ext cx="4013895" cy="951384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4829398" y="2354946"/>
              <a:ext cx="3680222" cy="2035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Data Cleaning</a:t>
              </a:r>
              <a:endParaRPr lang="en-US" sz="125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4829398" y="2642906"/>
              <a:ext cx="3680222" cy="396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Identifying and handling missing values and duplicate records to ensure data quality.</a:t>
              </a:r>
              <a:endParaRPr lang="en-US" sz="95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6BAC56F-C15D-9DB3-0A8B-07BCE74820D8}"/>
              </a:ext>
            </a:extLst>
          </p:cNvPr>
          <p:cNvGrpSpPr/>
          <p:nvPr/>
        </p:nvGrpSpPr>
        <p:grpSpPr>
          <a:xfrm>
            <a:off x="434132" y="3304271"/>
            <a:ext cx="4013895" cy="1219449"/>
            <a:chOff x="496119" y="3223546"/>
            <a:chExt cx="4013895" cy="951384"/>
          </a:xfrm>
        </p:grpSpPr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3223546"/>
              <a:ext cx="4013895" cy="951384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691530" y="3367757"/>
              <a:ext cx="3680222" cy="2035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Exploratory Data Analysis (EDA)</a:t>
              </a:r>
              <a:endParaRPr lang="en-US" sz="125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691530" y="3645694"/>
              <a:ext cx="3680222" cy="396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Visualizing data distributions and correlations to understand feature relationships with potability.</a:t>
              </a:r>
              <a:endParaRPr lang="en-US" sz="9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CAF1EA-FCF9-8556-4F1E-1B8DE244CAEF}"/>
              </a:ext>
            </a:extLst>
          </p:cNvPr>
          <p:cNvGrpSpPr/>
          <p:nvPr/>
        </p:nvGrpSpPr>
        <p:grpSpPr>
          <a:xfrm>
            <a:off x="4633985" y="3304270"/>
            <a:ext cx="4013895" cy="1204933"/>
            <a:chOff x="4633987" y="3229496"/>
            <a:chExt cx="4013895" cy="951384"/>
          </a:xfrm>
        </p:grpSpPr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33987" y="3229496"/>
              <a:ext cx="4013895" cy="951384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4829398" y="3367757"/>
              <a:ext cx="3680222" cy="2035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5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Model Training &amp; Evaluation</a:t>
              </a:r>
              <a:endParaRPr lang="en-US" sz="1250" dirty="0"/>
            </a:p>
          </p:txBody>
        </p:sp>
        <p:sp>
          <p:nvSpPr>
            <p:cNvPr id="15" name="Text 9"/>
            <p:cNvSpPr/>
            <p:nvPr/>
          </p:nvSpPr>
          <p:spPr>
            <a:xfrm>
              <a:off x="4829398" y="3645694"/>
              <a:ext cx="3680222" cy="396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9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Developing and comparing various machine learning models for accurate potability prediction.</a:t>
              </a:r>
              <a:endParaRPr lang="en-US" sz="950" dirty="0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040A1B6A-FEBE-B072-3D42-89CEAB370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758" y="4785329"/>
            <a:ext cx="1653683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0685"/>
            <a:ext cx="8151763" cy="36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u="sng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Initial Data Inspection</a:t>
            </a:r>
            <a:endParaRPr lang="en-US" sz="2300" u="sng" dirty="0"/>
          </a:p>
        </p:txBody>
      </p:sp>
      <p:sp>
        <p:nvSpPr>
          <p:cNvPr id="3" name="Text 1"/>
          <p:cNvSpPr/>
          <p:nvPr/>
        </p:nvSpPr>
        <p:spPr>
          <a:xfrm>
            <a:off x="491356" y="781125"/>
            <a:ext cx="8151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Our dataset contains 3276 records across 10 water quality parameters.</a:t>
            </a:r>
          </a:p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 Initial inspection revealed several missing values that require attention before analysis.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390799"/>
            <a:ext cx="8151763" cy="3391942"/>
          </a:xfrm>
          <a:prstGeom prst="roundRect">
            <a:avLst>
              <a:gd name="adj" fmla="val 139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395561"/>
            <a:ext cx="4071119" cy="305544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613246" y="1461418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1395561"/>
            <a:ext cx="4071119" cy="305544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8" name="Text 6"/>
          <p:cNvSpPr/>
          <p:nvPr/>
        </p:nvSpPr>
        <p:spPr>
          <a:xfrm>
            <a:off x="4686746" y="1461418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3246" y="1769343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86746" y="1769343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 of the water (0-14)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13246" y="2077269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Hardness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86746" y="2077269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hardness (mg/L)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3246" y="2385194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86746" y="2385194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dissolved solids (ppm)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3246" y="2693119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Chloramines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86746" y="2693119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Chloramine levels (ppm)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3246" y="3001045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Sulfate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86746" y="3001045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Sulfate levels (mg/L)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3246" y="3308970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Conductivity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86746" y="3308970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Electrical conductivity (μS/cm)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3246" y="3616896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Organic_carbon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86746" y="3616896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carbon levels (ppm)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3246" y="3924821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Trihalomethanes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86746" y="3924821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Trihalomethane levels (μg/L)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3246" y="4232746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Turbidity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86746" y="4232746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turbidity (NTU)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3246" y="4540672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Potability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86746" y="4540672"/>
            <a:ext cx="4301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potability (0=Non-potable, 1=Potable)</a:t>
            </a:r>
            <a:endParaRPr lang="en-US" sz="8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DE067E7-9155-E875-E015-AC6AC977F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618" y="4763691"/>
            <a:ext cx="1653683" cy="3581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317177"/>
            <a:ext cx="472276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u="sng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Addressing Missing Values</a:t>
            </a:r>
            <a:endParaRPr lang="en-US" sz="2550" u="sng" dirty="0"/>
          </a:p>
        </p:txBody>
      </p:sp>
      <p:sp>
        <p:nvSpPr>
          <p:cNvPr id="4" name="Text 1"/>
          <p:cNvSpPr/>
          <p:nvPr/>
        </p:nvSpPr>
        <p:spPr>
          <a:xfrm>
            <a:off x="449780" y="936576"/>
            <a:ext cx="2612082" cy="2188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We identified 1434 total null values across the dataset, primarily in 'ph', 'Sulfate', and 'Trihalomethanes'. These missing values were imputed using the median of their respective columns to maintain data integrity.</a:t>
            </a:r>
            <a:endParaRPr lang="en-US" sz="1400" dirty="0">
              <a:latin typeface="Georgia" panose="020405020504050203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After imputation, all missing values were successfully handled, and no duplicate records were found, ensuring a clean dataset for further analysis.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230437" y="1534939"/>
            <a:ext cx="1808038" cy="2666702"/>
          </a:xfrm>
          <a:prstGeom prst="roundRect">
            <a:avLst>
              <a:gd name="adj" fmla="val 2882"/>
            </a:avLst>
          </a:prstGeom>
          <a:solidFill>
            <a:srgbClr val="CCEE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992" y="1644421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48232" y="1604668"/>
            <a:ext cx="1281113" cy="2381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We identified 1434 total null values across the dataset, primarily in 'ph', 'Sulfate', and 'Trihalomethanes'. These missing values were imputed using the median of their respective columns to maintain data integrity.</a:t>
            </a:r>
            <a:endParaRPr lang="en-US" sz="1050" dirty="0">
              <a:latin typeface="Georgia" panose="020405020504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1AFE55-D36F-C185-02AB-099EE6002C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8" t="2925" r="1590" b="3446"/>
          <a:stretch>
            <a:fillRect/>
          </a:stretch>
        </p:blipFill>
        <p:spPr>
          <a:xfrm>
            <a:off x="5096646" y="464457"/>
            <a:ext cx="3982040" cy="41583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84F39A-CC58-BC25-4C7C-DC1FF1321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934" y="4777708"/>
            <a:ext cx="1752752" cy="365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87644"/>
            <a:ext cx="815176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u="sng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Potability Distribution</a:t>
            </a:r>
            <a:endParaRPr lang="en-US" sz="2000" u="sng" dirty="0"/>
          </a:p>
        </p:txBody>
      </p:sp>
      <p:sp>
        <p:nvSpPr>
          <p:cNvPr id="3" name="Text 1"/>
          <p:cNvSpPr/>
          <p:nvPr/>
        </p:nvSpPr>
        <p:spPr>
          <a:xfrm>
            <a:off x="496119" y="606623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The dataset exhibits a slight imbalance, with a higher number of non-potable water samples compared to potable ones.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This distribution is crucial for understanding the classification challenge.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5315545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Approximately 2000 samples are non-potable, while 1280 are potable. This imbalance will be considered during model training and evaluation.</a:t>
            </a:r>
            <a:endParaRPr lang="en-US" sz="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35478E-0E25-2F94-B06A-9757267D4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317" y="4793325"/>
            <a:ext cx="1653683" cy="3581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0F73FF-A588-35B6-3D57-441D473A32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02" t="3445" r="2199" b="3879"/>
          <a:stretch>
            <a:fillRect/>
          </a:stretch>
        </p:blipFill>
        <p:spPr>
          <a:xfrm>
            <a:off x="1683657" y="1315400"/>
            <a:ext cx="5275944" cy="3721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2289" y="181306"/>
            <a:ext cx="815176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u="sng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Correlation with Potability</a:t>
            </a:r>
            <a:endParaRPr lang="en-US" sz="1600" u="sng" dirty="0"/>
          </a:p>
        </p:txBody>
      </p:sp>
      <p:sp>
        <p:nvSpPr>
          <p:cNvPr id="3" name="Text 1"/>
          <p:cNvSpPr/>
          <p:nvPr/>
        </p:nvSpPr>
        <p:spPr>
          <a:xfrm>
            <a:off x="162289" y="497515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how each feature correlates with potability helps in identifying the most influential parameters for our predictive models.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Solids show the highest positive correlation, while Organic_carbon has the highest negative correlation.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5315545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correlation values are relatively low, suggesting that potability is influenced by a complex interplay of multiple factors rather than a single dominant feature.</a:t>
            </a:r>
            <a:endParaRPr lang="en-US" sz="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ED031E-FF3A-BF65-12EF-3FABB9FF2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317" y="4751039"/>
            <a:ext cx="1653683" cy="3581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B9CFF8-8CFC-DD6A-D50F-25CD509B83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7" t="2453" r="1507" b="3123"/>
          <a:stretch>
            <a:fillRect/>
          </a:stretch>
        </p:blipFill>
        <p:spPr>
          <a:xfrm>
            <a:off x="1453993" y="1010635"/>
            <a:ext cx="5658952" cy="39515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137592"/>
            <a:ext cx="815176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u="sng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 Distributions by Potability</a:t>
            </a:r>
            <a:endParaRPr lang="en-US" sz="1400" u="sng" dirty="0"/>
          </a:p>
        </p:txBody>
      </p:sp>
      <p:sp>
        <p:nvSpPr>
          <p:cNvPr id="3" name="Text 1"/>
          <p:cNvSpPr/>
          <p:nvPr/>
        </p:nvSpPr>
        <p:spPr>
          <a:xfrm>
            <a:off x="496118" y="437062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Visualizing the distribution of key features helps us understand their relationship with water potability.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 We observe distinct patterns for Solids, Organic Carbon, Chloramines, and Sulfate.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7408" y="872224"/>
            <a:ext cx="4000277" cy="1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6119" y="4668194"/>
            <a:ext cx="4000277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Non-potable water samples tend to have a higher concentration of solids, with a peak around 20,000, while potable samples peak around 18,000.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963593" y="848469"/>
            <a:ext cx="4000277" cy="1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963592" y="4632098"/>
            <a:ext cx="4000277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Both potable and non-potable samples show similar bell-shaped distributions for organic carbon, centered around 14-15, but non-potable samples have a higher frequency.</a:t>
            </a:r>
            <a:endParaRPr lang="en-US" sz="1050" dirty="0">
              <a:latin typeface="Georgia" panose="020405020504050203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A0DE3B-71FC-8D7E-154C-055D2D3F1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420" y="4856164"/>
            <a:ext cx="1153661" cy="2076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05D588-6411-8F24-AE21-5B9C594DD1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08" t="2409" r="1832" b="4367"/>
          <a:stretch>
            <a:fillRect/>
          </a:stretch>
        </p:blipFill>
        <p:spPr>
          <a:xfrm>
            <a:off x="0" y="931731"/>
            <a:ext cx="4477658" cy="36303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3DB238-4F59-9275-5C06-0E3B81A349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40" t="2408" r="2040" b="4001"/>
          <a:stretch>
            <a:fillRect/>
          </a:stretch>
        </p:blipFill>
        <p:spPr>
          <a:xfrm>
            <a:off x="4496396" y="921112"/>
            <a:ext cx="4477657" cy="36303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356" y="166485"/>
            <a:ext cx="815176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u="sng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Chloramines and Sulfate Distributions</a:t>
            </a:r>
            <a:endParaRPr lang="en-US" sz="1400" u="sng" dirty="0"/>
          </a:p>
        </p:txBody>
      </p:sp>
      <p:sp>
        <p:nvSpPr>
          <p:cNvPr id="3" name="Text 1"/>
          <p:cNvSpPr/>
          <p:nvPr/>
        </p:nvSpPr>
        <p:spPr>
          <a:xfrm>
            <a:off x="496118" y="466844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Further analysis of Chloramines and Sulfate distributions provides more insights into their role in water potability.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871314"/>
            <a:ext cx="4000277" cy="1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1356" y="4562457"/>
            <a:ext cx="4000277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Chloramines distributions for both potable and non-potable water are bell-shaped and centered around 7, with non-potable samples having a higher frequency.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00599" y="4527977"/>
            <a:ext cx="4000277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Sulfate levels for both categories are unimodal and slightly right-skewed, centered around 330-340, with non-potable samples showing a higher frequency.</a:t>
            </a:r>
            <a:endParaRPr lang="en-US" sz="1000" dirty="0">
              <a:latin typeface="Georgia" panose="020405020504050203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2EA0CA-6EDD-E218-73CF-751309CCB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68" y="4855564"/>
            <a:ext cx="1524132" cy="274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1DBEEC-AAF4-A977-198F-552AA0CF91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0" t="2124" r="1410" b="2456"/>
          <a:stretch>
            <a:fillRect/>
          </a:stretch>
        </p:blipFill>
        <p:spPr>
          <a:xfrm>
            <a:off x="0" y="818745"/>
            <a:ext cx="4652367" cy="36503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F9C4E9-AF6D-F591-DB6C-31450204E8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16" t="3052" r="1487" b="2937"/>
          <a:stretch>
            <a:fillRect/>
          </a:stretch>
        </p:blipFill>
        <p:spPr>
          <a:xfrm>
            <a:off x="4652367" y="824598"/>
            <a:ext cx="4347028" cy="3610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219671"/>
            <a:ext cx="815176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u="sng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Training and Comparison</a:t>
            </a:r>
            <a:endParaRPr lang="en-US" sz="1600" u="sng" dirty="0"/>
          </a:p>
        </p:txBody>
      </p:sp>
      <p:sp>
        <p:nvSpPr>
          <p:cNvPr id="3" name="Text 1"/>
          <p:cNvSpPr/>
          <p:nvPr/>
        </p:nvSpPr>
        <p:spPr>
          <a:xfrm>
            <a:off x="4054658" y="174130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We trained several machine learning models to predict water potability,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splitting the dataset into 80% for training and 20% for testing.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Features were scaled using StandardScaler for optimal model performance.</a:t>
            </a:r>
            <a:endParaRPr lang="en-US" sz="1050" dirty="0">
              <a:latin typeface="Georgia" panose="02040502050405020303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C2A31E6-9760-5F56-5AE8-A39515AB40BD}"/>
              </a:ext>
            </a:extLst>
          </p:cNvPr>
          <p:cNvGrpSpPr/>
          <p:nvPr/>
        </p:nvGrpSpPr>
        <p:grpSpPr>
          <a:xfrm>
            <a:off x="432438" y="810202"/>
            <a:ext cx="3718239" cy="807489"/>
            <a:chOff x="517961" y="731820"/>
            <a:chExt cx="4016918" cy="527596"/>
          </a:xfrm>
        </p:grpSpPr>
        <p:sp>
          <p:nvSpPr>
            <p:cNvPr id="4" name="Shape 2"/>
            <p:cNvSpPr/>
            <p:nvPr/>
          </p:nvSpPr>
          <p:spPr>
            <a:xfrm>
              <a:off x="517961" y="731820"/>
              <a:ext cx="3252920" cy="527596"/>
            </a:xfrm>
            <a:prstGeom prst="roundRect">
              <a:avLst>
                <a:gd name="adj" fmla="val 7938"/>
              </a:avLst>
            </a:prstGeom>
            <a:solidFill>
              <a:srgbClr val="CCEEFF"/>
            </a:solidFill>
            <a:ln w="4763">
              <a:solidFill>
                <a:srgbClr val="B2D4E5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586758" y="794518"/>
              <a:ext cx="3926904" cy="1017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Logistic Regression</a:t>
              </a:r>
              <a:endParaRPr lang="en-US" sz="1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07975" y="1020054"/>
              <a:ext cx="3926904" cy="743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Accuracy: 0.63</a:t>
              </a:r>
              <a:endParaRPr lang="en-US" sz="11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64FDBBB-D7CF-D70E-6745-9CA263F07B74}"/>
              </a:ext>
            </a:extLst>
          </p:cNvPr>
          <p:cNvGrpSpPr/>
          <p:nvPr/>
        </p:nvGrpSpPr>
        <p:grpSpPr>
          <a:xfrm>
            <a:off x="417725" y="3801297"/>
            <a:ext cx="2981722" cy="841910"/>
            <a:chOff x="4587478" y="715789"/>
            <a:chExt cx="4060403" cy="328166"/>
          </a:xfrm>
        </p:grpSpPr>
        <p:sp>
          <p:nvSpPr>
            <p:cNvPr id="7" name="Shape 5"/>
            <p:cNvSpPr/>
            <p:nvPr/>
          </p:nvSpPr>
          <p:spPr>
            <a:xfrm>
              <a:off x="4587478" y="715789"/>
              <a:ext cx="4060403" cy="328166"/>
            </a:xfrm>
            <a:prstGeom prst="roundRect">
              <a:avLst>
                <a:gd name="adj" fmla="val 7938"/>
              </a:avLst>
            </a:prstGeom>
            <a:solidFill>
              <a:srgbClr val="CCEEFF"/>
            </a:solidFill>
            <a:ln w="4763">
              <a:solidFill>
                <a:srgbClr val="B2D4E5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720977" y="779273"/>
              <a:ext cx="3926904" cy="1017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Decision Tree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720977" y="897025"/>
              <a:ext cx="3926904" cy="743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Accuracy: 0.58</a:t>
              </a:r>
              <a:endParaRPr lang="en-US" sz="11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82048E7-4FEB-E795-7BEE-F81D1CE16EA5}"/>
              </a:ext>
            </a:extLst>
          </p:cNvPr>
          <p:cNvGrpSpPr/>
          <p:nvPr/>
        </p:nvGrpSpPr>
        <p:grpSpPr>
          <a:xfrm>
            <a:off x="417725" y="2740302"/>
            <a:ext cx="2981722" cy="841910"/>
            <a:chOff x="4587478" y="1074911"/>
            <a:chExt cx="4060403" cy="328166"/>
          </a:xfrm>
        </p:grpSpPr>
        <p:sp>
          <p:nvSpPr>
            <p:cNvPr id="13" name="Shape 11"/>
            <p:cNvSpPr/>
            <p:nvPr/>
          </p:nvSpPr>
          <p:spPr>
            <a:xfrm>
              <a:off x="4587478" y="1074911"/>
              <a:ext cx="4060403" cy="328166"/>
            </a:xfrm>
            <a:prstGeom prst="roundRect">
              <a:avLst>
                <a:gd name="adj" fmla="val 7938"/>
              </a:avLst>
            </a:prstGeom>
            <a:solidFill>
              <a:srgbClr val="CCEEFF"/>
            </a:solidFill>
            <a:ln w="4763">
              <a:solidFill>
                <a:srgbClr val="B2D4E5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694232" y="1141661"/>
              <a:ext cx="3926904" cy="1017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KNN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694232" y="1261988"/>
              <a:ext cx="3926904" cy="743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Accuracy: 0.63</a:t>
              </a:r>
              <a:endParaRPr lang="en-US" sz="1100" dirty="0"/>
            </a:p>
          </p:txBody>
        </p:sp>
      </p:grpSp>
      <p:sp>
        <p:nvSpPr>
          <p:cNvPr id="17" name="Text 14"/>
          <p:cNvSpPr/>
          <p:nvPr/>
        </p:nvSpPr>
        <p:spPr>
          <a:xfrm>
            <a:off x="496119" y="6037659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emerged as the best-performing model with an accuracy of 0.68, demonstrating its robustness in classifying water potability.</a:t>
            </a:r>
            <a:endParaRPr lang="en-US" sz="4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79007B1-6C51-199A-5767-216920F97F4A}"/>
              </a:ext>
            </a:extLst>
          </p:cNvPr>
          <p:cNvGrpSpPr/>
          <p:nvPr/>
        </p:nvGrpSpPr>
        <p:grpSpPr>
          <a:xfrm>
            <a:off x="412220" y="1744022"/>
            <a:ext cx="3696704" cy="777195"/>
            <a:chOff x="490135" y="1385762"/>
            <a:chExt cx="4018098" cy="527596"/>
          </a:xfrm>
        </p:grpSpPr>
        <p:sp>
          <p:nvSpPr>
            <p:cNvPr id="19" name="Shape 2">
              <a:extLst>
                <a:ext uri="{FF2B5EF4-FFF2-40B4-BE49-F238E27FC236}">
                  <a16:creationId xmlns:a16="http://schemas.microsoft.com/office/drawing/2014/main" id="{8DF1C474-1811-B4DB-F5EF-0182F5C478C6}"/>
                </a:ext>
              </a:extLst>
            </p:cNvPr>
            <p:cNvSpPr/>
            <p:nvPr/>
          </p:nvSpPr>
          <p:spPr>
            <a:xfrm>
              <a:off x="490135" y="1385762"/>
              <a:ext cx="3252921" cy="527596"/>
            </a:xfrm>
            <a:prstGeom prst="roundRect">
              <a:avLst>
                <a:gd name="adj" fmla="val 7938"/>
              </a:avLst>
            </a:prstGeom>
            <a:solidFill>
              <a:srgbClr val="CCEEFF"/>
            </a:solidFill>
            <a:ln w="4763">
              <a:solidFill>
                <a:srgbClr val="B2D4E5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81329" y="1505722"/>
              <a:ext cx="3926904" cy="1017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b="1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Random Forest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81329" y="1705141"/>
              <a:ext cx="3926904" cy="743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Accuracy: 0.68</a:t>
              </a:r>
              <a:endParaRPr lang="en-US" sz="1100" dirty="0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E2C7F151-C042-5C49-DC9E-548EA2E32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4874045"/>
            <a:ext cx="1569720" cy="2656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CDEEBE-B439-29A0-47E8-67F842A0B9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3" t="2222" r="1661" b="2222"/>
          <a:stretch>
            <a:fillRect/>
          </a:stretch>
        </p:blipFill>
        <p:spPr>
          <a:xfrm>
            <a:off x="3541520" y="825577"/>
            <a:ext cx="5347646" cy="4171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95108" y="498140"/>
            <a:ext cx="4722763" cy="814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u="sng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Best Model Evaluation &amp; Prediction</a:t>
            </a:r>
            <a:endParaRPr lang="en-US" sz="2550" u="sng" dirty="0"/>
          </a:p>
        </p:txBody>
      </p:sp>
      <p:sp>
        <p:nvSpPr>
          <p:cNvPr id="4" name="Text 1"/>
          <p:cNvSpPr/>
          <p:nvPr/>
        </p:nvSpPr>
        <p:spPr>
          <a:xfrm>
            <a:off x="4395108" y="1442577"/>
            <a:ext cx="4722763" cy="1528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The Random Forest model, with its superior accuracy, was selected as the best model. Its performance was further evaluated using a confusion matrix and classification report.</a:t>
            </a:r>
            <a:endParaRPr lang="en-US" sz="1050" dirty="0">
              <a:latin typeface="Georgia" panose="02040502050405020303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orgia" panose="02040502050405020303" pitchFamily="18" charset="0"/>
                <a:ea typeface="Inter" pitchFamily="34" charset="-122"/>
                <a:cs typeface="Inter" pitchFamily="34" charset="-120"/>
              </a:rPr>
              <a:t>The confusion matrix indicates that the model correctly identified 350 non-potable samples and 92 potable samples. While there are some misclassifications, the model provides a solid foundation for predicting water potability.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395107" y="3209850"/>
            <a:ext cx="4722763" cy="892894"/>
          </a:xfrm>
          <a:prstGeom prst="roundRect">
            <a:avLst>
              <a:gd name="adj" fmla="val 5835"/>
            </a:avLst>
          </a:prstGeom>
          <a:solidFill>
            <a:srgbClr val="CCEE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746" y="3441516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97321" y="3400157"/>
            <a:ext cx="419583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have successfully trained and evaluated a model for water potability prediction. The model and scaler have been saved for future use.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104705" y="4306998"/>
            <a:ext cx="472276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You!</a:t>
            </a:r>
            <a:endParaRPr lang="en-US" sz="2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4D1DE9-0346-D21D-6C08-21B223D8D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728810" y="2264070"/>
            <a:ext cx="3853860" cy="3962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67C241-2EA5-D39C-8238-B97A852C7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385" y="4676864"/>
            <a:ext cx="1554615" cy="4115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2C14A4-732E-BD9F-B9F6-0365AADF829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95" t="2324" r="1971" b="2698"/>
          <a:stretch>
            <a:fillRect/>
          </a:stretch>
        </p:blipFill>
        <p:spPr>
          <a:xfrm>
            <a:off x="0" y="510866"/>
            <a:ext cx="4104705" cy="4072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860</Words>
  <Application>Microsoft Office PowerPoint</Application>
  <PresentationFormat>On-screen Show (16:9)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Georgia</vt:lpstr>
      <vt:lpstr>Cambria Math</vt:lpstr>
      <vt:lpstr>Inter</vt:lpstr>
      <vt:lpstr>Arial</vt:lpstr>
      <vt:lpstr>Petrona Bold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vyomica jaiswal</dc:creator>
  <cp:lastModifiedBy>vyomica jaiswal</cp:lastModifiedBy>
  <cp:revision>3</cp:revision>
  <dcterms:created xsi:type="dcterms:W3CDTF">2026-07-07T16:40:24Z</dcterms:created>
  <dcterms:modified xsi:type="dcterms:W3CDTF">2026-07-09T05:18:49Z</dcterms:modified>
</cp:coreProperties>
</file>